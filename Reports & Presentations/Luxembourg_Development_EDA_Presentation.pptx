
<file path=[Content_Types].xml><?xml version="1.0" encoding="utf-8"?>
<Types xmlns="http://schemas.openxmlformats.org/package/2006/content-types">
  <Default Extension="bin" ContentType="image/unknown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470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bin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72756" y="1695450"/>
            <a:ext cx="619848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500"/>
              </a:lnSpc>
              <a:buNone/>
            </a:pPr>
            <a:r>
              <a:rPr lang="en-US" sz="4500" b="1" dirty="0">
                <a:solidFill>
                  <a:srgbClr val="EC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Luxembourg Development Analysis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1863047" y="3143250"/>
            <a:ext cx="541775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EC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Tudor </a:t>
            </a:r>
            <a:r>
              <a:rPr lang="en-US" sz="1800" dirty="0" err="1">
                <a:solidFill>
                  <a:srgbClr val="EC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Sclifos</a:t>
            </a:r>
            <a:r>
              <a:rPr lang="en-US" dirty="0">
                <a:solidFill>
                  <a:srgbClr val="EC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IS-251M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437811" y="4572000"/>
            <a:ext cx="13383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Source: Eurostat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685800"/>
            <a:ext cx="44399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228600" y="12192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03027" y="1304925"/>
            <a:ext cx="1297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" y="1847850"/>
            <a:ext cx="27462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Collection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28600" y="2266950"/>
            <a:ext cx="27462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indicators from Eurostat across categories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25850" y="13335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400276" y="1419225"/>
            <a:ext cx="1297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225850" y="1962150"/>
            <a:ext cx="27462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Cleaning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225850" y="2381250"/>
            <a:ext cx="27462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Outlier detection, temporal alignment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23099" y="13335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97526" y="1419225"/>
            <a:ext cx="1297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23099" y="1962150"/>
            <a:ext cx="27462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223099" y="2381250"/>
            <a:ext cx="27462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Z-score normalization, aggregation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8600" y="295275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E74C3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03027" y="3038475"/>
            <a:ext cx="1297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28600" y="3581400"/>
            <a:ext cx="27462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28600" y="4000500"/>
            <a:ext cx="27462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Univariate, bivariate, correlation analysis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25850" y="295275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E74C3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400276" y="3038475"/>
            <a:ext cx="1297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225850" y="3581400"/>
            <a:ext cx="27462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225850" y="4000500"/>
            <a:ext cx="27462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identification, policy implications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23099" y="306705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E74C3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97526" y="3152775"/>
            <a:ext cx="1297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223099" y="3695700"/>
            <a:ext cx="27462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223099" y="4114800"/>
            <a:ext cx="27462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Pearson &amp; Spearman comparison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1219200"/>
            <a:ext cx="43622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304800" y="1905000"/>
            <a:ext cx="571500" cy="571500"/>
          </a:xfrm>
          <a:prstGeom prst="roundRect">
            <a:avLst>
              <a:gd name="adj" fmla="val 16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11076" y="2019300"/>
            <a:ext cx="1621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1028700" y="1905000"/>
            <a:ext cx="79667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has inflation-unemployment relationship evolved?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4800" y="2628900"/>
            <a:ext cx="571500" cy="571500"/>
          </a:xfrm>
          <a:prstGeom prst="roundRect">
            <a:avLst>
              <a:gd name="adj" fmla="val 16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11076" y="2743200"/>
            <a:ext cx="1621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28700" y="2628900"/>
            <a:ext cx="79667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the link between prosperity and health outcomes?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4800" y="3352800"/>
            <a:ext cx="571500" cy="571500"/>
          </a:xfrm>
          <a:prstGeom prst="roundRect">
            <a:avLst>
              <a:gd name="adj" fmla="val 16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11076" y="3467100"/>
            <a:ext cx="1621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028700" y="3352800"/>
            <a:ext cx="79667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unemployment rates affect emigration patterns?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200150"/>
            <a:ext cx="218598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Indicators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228600" y="1733550"/>
            <a:ext cx="43525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indicators analyzed from Eurostat (2 excluded)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28600" y="2266950"/>
            <a:ext cx="4267200" cy="914400"/>
          </a:xfrm>
          <a:prstGeom prst="roundRect">
            <a:avLst>
              <a:gd name="adj" fmla="val 6250"/>
            </a:avLst>
          </a:prstGeom>
          <a:solidFill>
            <a:srgbClr val="ECF0F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2900" y="2381250"/>
            <a:ext cx="41193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(6)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42900" y="2609850"/>
            <a:ext cx="41193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300"/>
              </a:spcBef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Inflation, GDP, Consumption, Exports, Imports, Current Account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8600" y="3257550"/>
            <a:ext cx="4267200" cy="685800"/>
          </a:xfrm>
          <a:prstGeom prst="roundRect">
            <a:avLst>
              <a:gd name="adj" fmla="val 8333"/>
            </a:avLst>
          </a:prstGeom>
          <a:solidFill>
            <a:srgbClr val="ECF0F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42900" y="3371850"/>
            <a:ext cx="41193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MARKET (1)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42900" y="3600450"/>
            <a:ext cx="41193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300"/>
              </a:spcBef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Unemployment Rate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48200" y="2043113"/>
            <a:ext cx="4267200" cy="914400"/>
          </a:xfrm>
          <a:prstGeom prst="roundRect">
            <a:avLst>
              <a:gd name="adj" fmla="val 6250"/>
            </a:avLst>
          </a:prstGeom>
          <a:solidFill>
            <a:srgbClr val="ECF0F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62500" y="2157413"/>
            <a:ext cx="41193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DEMOGRAPHIC (5)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62500" y="2386013"/>
            <a:ext cx="41193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300"/>
              </a:spcBef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Population, Emigration, Immigration, Life Expectancy, Deaths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8200" y="3033713"/>
            <a:ext cx="4267200" cy="952500"/>
          </a:xfrm>
          <a:prstGeom prst="roundRect">
            <a:avLst>
              <a:gd name="adj" fmla="val 6000"/>
            </a:avLst>
          </a:prstGeom>
          <a:solidFill>
            <a:srgbClr val="FFE5E5"/>
          </a:solidFill>
          <a:ln w="19050">
            <a:solidFill>
              <a:srgbClr val="E74C3C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81550" y="3167063"/>
            <a:ext cx="40805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EXCLUDED (2)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81550" y="3395663"/>
            <a:ext cx="4080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300"/>
              </a:spcBef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Vacancies, House Prices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81550" y="3662362"/>
            <a:ext cx="40805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buNone/>
            </a:pPr>
            <a:r>
              <a:rPr lang="en-US" sz="105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Insufficient historical data (&lt;20 years)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328613"/>
            <a:ext cx="44399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Inflation vs Unemployment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228600" y="728663"/>
            <a:ext cx="8860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45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correlation with temporal variation (2004-2024)</a:t>
            </a:r>
            <a:endParaRPr lang="en-US" sz="1200" dirty="0"/>
          </a:p>
        </p:txBody>
      </p:sp>
      <p:pic>
        <p:nvPicPr>
          <p:cNvPr id="4" name="Image 0" descr="/mnt/user-data/uploads/1762086054153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147763"/>
            <a:ext cx="8686800" cy="3619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328613"/>
            <a:ext cx="44399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Prosperity &amp; Health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228600" y="728663"/>
            <a:ext cx="8860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45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positive correlation: r = 0.95 (1994-2024)</a:t>
            </a:r>
            <a:endParaRPr lang="en-US" sz="1200" dirty="0"/>
          </a:p>
        </p:txBody>
      </p:sp>
      <p:pic>
        <p:nvPicPr>
          <p:cNvPr id="4" name="Image 0" descr="/mnt/user-data/uploads/1762086062333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147763"/>
            <a:ext cx="8686800" cy="3619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328613"/>
            <a:ext cx="44399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Unemployment &amp; Emigration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228600" y="728663"/>
            <a:ext cx="8860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45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Counterintuitive negative relationship (after controlling for population)</a:t>
            </a:r>
            <a:endParaRPr lang="en-US" sz="1200" dirty="0"/>
          </a:p>
        </p:txBody>
      </p:sp>
      <p:pic>
        <p:nvPicPr>
          <p:cNvPr id="4" name="Image 0" descr="/mnt/user-data/uploads/176208607261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147763"/>
            <a:ext cx="8686800" cy="3619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519113"/>
            <a:ext cx="44399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Correlation Analysis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228600" y="919162"/>
            <a:ext cx="8860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45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 relationships: Life expectancy, GDP, and unemployment</a:t>
            </a:r>
            <a:endParaRPr lang="en-US" sz="1200" dirty="0"/>
          </a:p>
        </p:txBody>
      </p:sp>
      <p:pic>
        <p:nvPicPr>
          <p:cNvPr id="4" name="Image 0" descr="/mnt/user-data/uploads/1762086336763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338263"/>
            <a:ext cx="86868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1314450"/>
            <a:ext cx="2108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2250" dirty="0"/>
          </a:p>
        </p:txBody>
      </p:sp>
      <p:sp>
        <p:nvSpPr>
          <p:cNvPr id="3" name="Shape 1"/>
          <p:cNvSpPr/>
          <p:nvPr/>
        </p:nvSpPr>
        <p:spPr>
          <a:xfrm>
            <a:off x="323850" y="1809750"/>
            <a:ext cx="0" cy="571500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95300" y="1809750"/>
            <a:ext cx="40027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6x GDP Growth vs 2.3x Population Growth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95300" y="2114550"/>
            <a:ext cx="4002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€3.8B to €22.9B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3850" y="2533650"/>
            <a:ext cx="0" cy="571500"/>
          </a:xfrm>
          <a:prstGeom prst="line">
            <a:avLst/>
          </a:prstGeom>
          <a:noFill/>
          <a:ln w="381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95300" y="2533650"/>
            <a:ext cx="40027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Jobless Growth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95300" y="2838450"/>
            <a:ext cx="4002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GDP-Unemployment r = 0.77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3850" y="3257550"/>
            <a:ext cx="0" cy="571500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5300" y="3257550"/>
            <a:ext cx="40027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Immigration Driven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95300" y="3562350"/>
            <a:ext cx="4002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17K in vs 10K out annually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43450" y="1733550"/>
            <a:ext cx="0" cy="571500"/>
          </a:xfrm>
          <a:prstGeom prst="line">
            <a:avLst/>
          </a:prstGeom>
          <a:noFill/>
          <a:ln w="381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14900" y="1733550"/>
            <a:ext cx="40027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latin typeface="Arial" panose="020B0604020202020204" pitchFamily="34" charset="0"/>
                <a:cs typeface="Arial" panose="020B0604020202020204" pitchFamily="34" charset="0"/>
              </a:rPr>
              <a:t>Distinct Unemployment Regimes</a:t>
            </a:r>
          </a:p>
          <a:p>
            <a:pPr marL="0" indent="0" algn="l">
              <a:lnSpc>
                <a:spcPts val="2100"/>
              </a:lnSpc>
              <a:buNone/>
            </a:pP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14900" y="2038350"/>
            <a:ext cx="4002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distinct regimes: 1-3% and 5-7%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43450" y="2457450"/>
            <a:ext cx="0" cy="571500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14900" y="2457450"/>
            <a:ext cx="40027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Resilient Healthcare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914900" y="2762250"/>
            <a:ext cx="4002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expectancy at ~83 years VS EU at ~81.7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43450" y="3181350"/>
            <a:ext cx="0" cy="571500"/>
          </a:xfrm>
          <a:prstGeom prst="line">
            <a:avLst/>
          </a:prstGeom>
          <a:noFill/>
          <a:ln w="381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914900" y="3181350"/>
            <a:ext cx="40027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Inflation Independence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914900" y="3486150"/>
            <a:ext cx="4002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correlations with other factors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419100"/>
            <a:ext cx="43622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304800" y="1104900"/>
            <a:ext cx="8534400" cy="1104900"/>
          </a:xfrm>
          <a:prstGeom prst="roundRect">
            <a:avLst>
              <a:gd name="adj" fmla="val 6897"/>
            </a:avLst>
          </a:prstGeom>
          <a:solidFill>
            <a:srgbClr val="ECF0F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333375" y="1104900"/>
            <a:ext cx="0" cy="1104900"/>
          </a:xfrm>
          <a:prstGeom prst="line">
            <a:avLst/>
          </a:prstGeom>
          <a:noFill/>
          <a:ln w="5715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0550" y="1333500"/>
            <a:ext cx="81804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Development Model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0550" y="1676400"/>
            <a:ext cx="81804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6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prosperity translates to improved health outcomes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04800" y="2362200"/>
            <a:ext cx="8534400" cy="1104900"/>
          </a:xfrm>
          <a:prstGeom prst="roundRect">
            <a:avLst>
              <a:gd name="adj" fmla="val 6897"/>
            </a:avLst>
          </a:prstGeom>
          <a:solidFill>
            <a:srgbClr val="ECF0F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33375" y="2362200"/>
            <a:ext cx="0" cy="1104900"/>
          </a:xfrm>
          <a:prstGeom prst="line">
            <a:avLst/>
          </a:prstGeom>
          <a:noFill/>
          <a:ln w="5715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0550" y="2590800"/>
            <a:ext cx="81804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 Challenges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0550" y="2933700"/>
            <a:ext cx="81804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6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Jobless growth and potential brain drain require policy attention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04800" y="3619500"/>
            <a:ext cx="8534400" cy="1104900"/>
          </a:xfrm>
          <a:prstGeom prst="roundRect">
            <a:avLst>
              <a:gd name="adj" fmla="val 6897"/>
            </a:avLst>
          </a:prstGeom>
          <a:solidFill>
            <a:srgbClr val="ECF0F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33375" y="3619500"/>
            <a:ext cx="0" cy="1104900"/>
          </a:xfrm>
          <a:prstGeom prst="line">
            <a:avLst/>
          </a:prstGeom>
          <a:noFill/>
          <a:ln w="5715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0550" y="3848100"/>
            <a:ext cx="81804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Economy Resilience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0550" y="4191000"/>
            <a:ext cx="81804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6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positioning enables sustained prosperity despite global exposure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301</Words>
  <Application>Microsoft Office PowerPoint</Application>
  <PresentationFormat>On-screen Show (16:9)</PresentationFormat>
  <Paragraphs>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European Development Indicators Analysis</dc:title>
  <dc:subject>PptxGenJS Presentation</dc:subject>
  <dc:creator>Luxembourg Development Analysis</dc:creator>
  <cp:lastModifiedBy>admin</cp:lastModifiedBy>
  <cp:revision>3</cp:revision>
  <dcterms:created xsi:type="dcterms:W3CDTF">2025-11-02T14:08:02Z</dcterms:created>
  <dcterms:modified xsi:type="dcterms:W3CDTF">2025-11-02T14:39:39Z</dcterms:modified>
</cp:coreProperties>
</file>